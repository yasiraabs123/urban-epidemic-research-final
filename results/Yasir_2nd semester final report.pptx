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>
      <p:cViewPr varScale="1">
        <p:scale>
          <a:sx n="119" d="100"/>
          <a:sy n="119" d="100"/>
        </p:scale>
        <p:origin x="403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8270">
              <a:lnSpc>
                <a:spcPts val="18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8270">
              <a:lnSpc>
                <a:spcPts val="18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8270">
              <a:lnSpc>
                <a:spcPts val="18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8270">
              <a:lnSpc>
                <a:spcPts val="18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8270">
              <a:lnSpc>
                <a:spcPts val="18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11613" y="0"/>
            <a:ext cx="1532386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101853"/>
            <a:ext cx="6688810" cy="6889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5619" y="1007109"/>
            <a:ext cx="8112760" cy="3549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97900" y="4728387"/>
            <a:ext cx="295528" cy="254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8270">
              <a:lnSpc>
                <a:spcPts val="18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8/rsif.2005.0051" TargetMode="External"/><Relationship Id="rId2" Type="http://schemas.openxmlformats.org/officeDocument/2006/relationships/hyperlink" Target="https://doi.org/10.1103/PhysRevLett.86.320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86/s12889-024-19738-6" TargetMode="External"/><Relationship Id="rId4" Type="http://schemas.openxmlformats.org/officeDocument/2006/relationships/hyperlink" Target="https://doi.org/10.1038/s41597-025-04465-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pidem.2014.09.005" TargetMode="External"/><Relationship Id="rId2" Type="http://schemas.openxmlformats.org/officeDocument/2006/relationships/hyperlink" Target="https://doi.org/10.1098/rsif.2010.014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3390/math13040612" TargetMode="External"/><Relationship Id="rId4" Type="http://schemas.openxmlformats.org/officeDocument/2006/relationships/hyperlink" Target="https://doi.org/10.1038/srep00469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46075" y="1740535"/>
            <a:ext cx="1548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sz="1800" i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Topic: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82009" y="3237433"/>
            <a:ext cx="42576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Name: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Yasir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Abbas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J4133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Scientific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Supervisor: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Vasiliy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Leonenko,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PhD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01.04.02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Applied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Mathematics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Computer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7058" y="2431542"/>
            <a:ext cx="3814191" cy="2118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181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314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2600" b="1" dirty="0">
                <a:solidFill>
                  <a:srgbClr val="1F3A5F"/>
                </a:solidFill>
                <a:latin typeface="Calibri"/>
              </a:rPr>
              <a:t>Statement of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50000"/>
            <a:ext cx="8128000" cy="3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Traditional epidemic models assume static contact networks where human behavior never changes during outbreaks.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dirty="0">
                <a:solidFill>
                  <a:srgbClr val="1A1A1A"/>
                </a:solidFill>
                <a:latin typeface="Calibri"/>
              </a:rPr>
              <a:t>This assumption contradicts real-world observations - individuals adapt their behavior in response to perceived risk.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Key Scientific Question: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How do dynamic contact patterns (weekly rhythms + behavioral adaptation) change epidemic outbreak predictions compared to static models?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Why It Matters: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Static models systematically overestimate peak severity and underestimate outbreak timing, leading to mis-timed interventions.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181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314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2600" b="1" dirty="0">
                <a:solidFill>
                  <a:srgbClr val="1F3A5F"/>
                </a:solidFill>
                <a:latin typeface="Calibri"/>
              </a:rPr>
              <a:t>Purpose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50000"/>
            <a:ext cx="8128000" cy="3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Research Purpose: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Systematically compare static vs dynamic epidemic models across three urban spatial regimes and validate against real COVID-19 data.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Objectives: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1. Generate synthetic urban networks (Dense, Polycentric, Sparse) via a Stochastic Block Model.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2. Implement a dynamic SEIR model with weekly patterns and behavioral adaptation.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3. Run 90 stochastic simulations (30 per network) and compare against static baselines.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4. Validate model output against St. Petersburg COVID-19 monitoring data.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5. Derive city-specific intervention timing guidelines.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314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2600" b="1" dirty="0">
                <a:solidFill>
                  <a:srgbClr val="1F3A5F"/>
                </a:solidFill>
                <a:latin typeface="Calibri"/>
              </a:rPr>
              <a:t>Review of Similar Solutions /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050000"/>
            <a:ext cx="8128000" cy="3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Pastor-Satorras &amp; Vespignani (Phys. Rev. Lett., 2001)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Established epidemic thresholds on scale-free networks; explained rapid global spread.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Keeling &amp; Eames (J. R. Soc. Interface, 2005)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Identified degree distribution, clustering and assortativity as key determinants of outbreak dynamics.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Rineer et al. (Nature Scientific Data, 2025)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303M-person synthetic US population via Iterative Proportional Fitting. Limitation: static dataset, no disease simulation.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Bilal et al. (CitySEIRCast, Springer, 2025)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3D digital twin + ABM with mobility data. Limitation: computationally heavy, single US county.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4563500"/>
            <a:ext cx="8128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>
                <a:solidFill>
                  <a:srgbClr val="555555"/>
                </a:solidFill>
                <a:latin typeface="Calibri"/>
              </a:rPr>
              <a:t>Verify references: </a:t>
            </a:r>
            <a:r>
              <a:rPr sz="800" u="sng">
                <a:solidFill>
                  <a:srgbClr val="1F3A5F"/>
                </a:solidFill>
                <a:latin typeface="Calibri"/>
                <a:hlinkClick r:id="rId2"/>
              </a:rPr>
              <a:t>Pastor-Satorras &amp; Vespignani 2001</a:t>
            </a:r>
            <a:r>
              <a:rPr sz="800">
                <a:solidFill>
                  <a:srgbClr val="999999"/>
                </a:solidFill>
                <a:latin typeface="Calibri"/>
              </a:rPr>
              <a:t>  ·  </a:t>
            </a:r>
            <a:r>
              <a:rPr sz="800" u="sng">
                <a:solidFill>
                  <a:srgbClr val="1F3A5F"/>
                </a:solidFill>
                <a:latin typeface="Calibri"/>
                <a:hlinkClick r:id="rId3"/>
              </a:rPr>
              <a:t>Keeling &amp; Eames 2005</a:t>
            </a:r>
            <a:r>
              <a:rPr sz="800">
                <a:solidFill>
                  <a:srgbClr val="999999"/>
                </a:solidFill>
                <a:latin typeface="Calibri"/>
              </a:rPr>
              <a:t>  ·  </a:t>
            </a:r>
            <a:r>
              <a:rPr sz="800" u="sng">
                <a:solidFill>
                  <a:srgbClr val="1F3A5F"/>
                </a:solidFill>
                <a:latin typeface="Calibri"/>
                <a:hlinkClick r:id="rId4"/>
              </a:rPr>
              <a:t>Rineer et al. 2025</a:t>
            </a:r>
            <a:r>
              <a:rPr sz="800">
                <a:solidFill>
                  <a:srgbClr val="999999"/>
                </a:solidFill>
                <a:latin typeface="Calibri"/>
              </a:rPr>
              <a:t>  ·  </a:t>
            </a:r>
            <a:r>
              <a:rPr sz="800" u="sng">
                <a:solidFill>
                  <a:srgbClr val="1F3A5F"/>
                </a:solidFill>
                <a:latin typeface="Calibri"/>
                <a:hlinkClick r:id="rId5"/>
              </a:rPr>
              <a:t>Bilal et al. (CitySEIRCast)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940" y="322833"/>
            <a:ext cx="5636260" cy="4465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2600" b="1" dirty="0">
                <a:solidFill>
                  <a:srgbClr val="1F3A5F"/>
                </a:solidFill>
                <a:latin typeface="Calibri"/>
              </a:rPr>
              <a:t>Review of Similar Solutions / Research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050000"/>
            <a:ext cx="8128000" cy="3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Funk et al. (2010, 2015)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Behavior-informed networks: infection probability depends on perceived risk.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Perra et al. (Scientific Reports, 2011)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Activity-driven networks where node activity levels change over time.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Zhang et al. (MDPI, 2025)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Conceptual review of ABM vs compartmental/network models; lacks empirical validation.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Identified Gap: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No prior study compares static vs dynamic predictions across multiple urban topologies with both weekly patterns AND behavioral adaptation, validated against real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4563500"/>
            <a:ext cx="8128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>
                <a:solidFill>
                  <a:srgbClr val="555555"/>
                </a:solidFill>
                <a:latin typeface="Calibri"/>
              </a:rPr>
              <a:t>Verify references: </a:t>
            </a:r>
            <a:r>
              <a:rPr sz="800" u="sng">
                <a:solidFill>
                  <a:srgbClr val="1F3A5F"/>
                </a:solidFill>
                <a:latin typeface="Calibri"/>
                <a:hlinkClick r:id="rId2"/>
              </a:rPr>
              <a:t>Funk et al. 2010</a:t>
            </a:r>
            <a:r>
              <a:rPr sz="800">
                <a:solidFill>
                  <a:srgbClr val="999999"/>
                </a:solidFill>
                <a:latin typeface="Calibri"/>
              </a:rPr>
              <a:t>  ·  </a:t>
            </a:r>
            <a:r>
              <a:rPr sz="800" u="sng">
                <a:solidFill>
                  <a:srgbClr val="1F3A5F"/>
                </a:solidFill>
                <a:latin typeface="Calibri"/>
                <a:hlinkClick r:id="rId3"/>
              </a:rPr>
              <a:t>Funk et al. 2015</a:t>
            </a:r>
            <a:r>
              <a:rPr sz="800">
                <a:solidFill>
                  <a:srgbClr val="999999"/>
                </a:solidFill>
                <a:latin typeface="Calibri"/>
              </a:rPr>
              <a:t>  ·  </a:t>
            </a:r>
            <a:r>
              <a:rPr sz="800" u="sng">
                <a:solidFill>
                  <a:srgbClr val="1F3A5F"/>
                </a:solidFill>
                <a:latin typeface="Calibri"/>
                <a:hlinkClick r:id="rId4"/>
              </a:rPr>
              <a:t>Perra et al. 2012</a:t>
            </a:r>
            <a:r>
              <a:rPr sz="800">
                <a:solidFill>
                  <a:srgbClr val="999999"/>
                </a:solidFill>
                <a:latin typeface="Calibri"/>
              </a:rPr>
              <a:t>  ·  </a:t>
            </a:r>
            <a:r>
              <a:rPr sz="800" u="sng">
                <a:solidFill>
                  <a:srgbClr val="1F3A5F"/>
                </a:solidFill>
                <a:latin typeface="Calibri"/>
                <a:hlinkClick r:id="rId5"/>
              </a:rPr>
              <a:t>Zhang et al.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314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2600" b="1" dirty="0">
                <a:solidFill>
                  <a:srgbClr val="1F3A5F"/>
                </a:solidFill>
                <a:latin typeface="Calibri"/>
              </a:rPr>
              <a:t>Research Methods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50000"/>
            <a:ext cx="8128000" cy="3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Methods: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Stochastic Block Model with Social (435), Hub (75), Non-social (490) blocks.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Fermi-Dirac distance function controls spatial mixing (mu = 5, 10, 15).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Dynamic SEIR with weekly contact multipliers and threshold-based behavioral adaptation.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Statistical comparison: paired t-test, ANOVA, Cohen's d effect size.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Tools: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Python (NetworkX, NumPy, SciPy, Matplotlib).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Network visualization: Gephi, Plotly.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Data: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Synthetic populations, COVID-19 parameters, St. Petersburg monitoring data (Winter 2022).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314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2600" b="1" dirty="0">
                <a:solidFill>
                  <a:srgbClr val="1F3A5F"/>
                </a:solidFill>
                <a:latin typeface="Calibri"/>
              </a:rPr>
              <a:t>Scientific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50000"/>
            <a:ext cx="8128000" cy="3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dirty="0">
                <a:solidFill>
                  <a:srgbClr val="1A1A1A"/>
                </a:solidFill>
                <a:latin typeface="Calibri"/>
              </a:rPr>
              <a:t>First systematic comparison of static vs dynamic epidemic models across three urban spatial regimes.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dirty="0">
                <a:solidFill>
                  <a:srgbClr val="1A1A1A"/>
                </a:solidFill>
                <a:latin typeface="Calibri"/>
              </a:rPr>
              <a:t>Unified framework integrating Stochastic Block Models, weekly contact rhythms, and threshold-based behavioral adaptation.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dirty="0">
                <a:solidFill>
                  <a:srgbClr val="1A1A1A"/>
                </a:solidFill>
                <a:latin typeface="Calibri"/>
              </a:rPr>
              <a:t>Real-data validation using St. Petersburg COVID-19 monitoring data (R^2 = 0.915).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dirty="0">
                <a:solidFill>
                  <a:srgbClr val="1A1A1A"/>
                </a:solidFill>
                <a:latin typeface="Calibri"/>
              </a:rPr>
              <a:t>Delivers practical, timing-dependent intervention guidelines tailored to city topology rather than population size alone.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Potential Impact: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Public-health planning can shift from one-size-fits-all measures to topology-aware strategies, approximately doubling intervention effectiveness.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314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2600" b="1" dirty="0">
                <a:solidFill>
                  <a:srgbClr val="1F3A5F"/>
                </a:solidFill>
                <a:latin typeface="Calibri"/>
              </a:rPr>
              <a:t>The Solution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50000"/>
            <a:ext cx="8128000" cy="3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Stage 1 - Network Generation: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Build SBM-based contact networks for Dense (mu=15), Polycentric (mu=10), Sparse (mu=5) cities; project hubs to weight connections.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Stage 2 - Dynamic Simulations: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Run SEIR with weekend = 60% weekday multiplier and behavioral reductions of 30% / 50% / 70%; 30 runs per network.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Stage 3 - Static Baseline: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Same networks simulated without dynamic effects (semester 1 results).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Stage 4 - Comparison and Validation: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600" dirty="0">
                <a:solidFill>
                  <a:srgbClr val="1A1A1A"/>
                </a:solidFill>
                <a:latin typeface="Calibri"/>
              </a:rPr>
              <a:t>Static vs dynamic metrics, ANOVA significance tests, validation against real St. Petersburg COVID-19 curves.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314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2600" b="1" dirty="0">
                <a:solidFill>
                  <a:srgbClr val="1F3A5F"/>
                </a:solidFill>
                <a:latin typeface="Calibri"/>
              </a:rPr>
              <a:t>Task 1: Network Generation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990000"/>
            <a:ext cx="8128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300" dirty="0">
                <a:solidFill>
                  <a:srgbClr val="1A1A1A"/>
                </a:solidFill>
                <a:latin typeface="Calibri"/>
              </a:rPr>
              <a:t>Three city topologies generated via Stochastic Block Model with Social/Hub/Non-social blocks; Fermi-Dirac distance function controls spatial mixing (mu = 5, 10, 15).</a:t>
            </a:r>
          </a:p>
        </p:txBody>
      </p:sp>
      <p:pic>
        <p:nvPicPr>
          <p:cNvPr id="7" name="Picture 6" descr="fig1_net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11" y="1500000"/>
            <a:ext cx="7056778" cy="2500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4150000"/>
          <a:ext cx="8128000" cy="88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mu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Nodes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Edges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Avg. Degree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Clustering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Restrictive (Sparse)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8,234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16.5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Moderate (Polycentric)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15,678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31.4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Freer (Dense)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24,567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49.1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314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2600" b="1" dirty="0">
                <a:solidFill>
                  <a:srgbClr val="1F3A5F"/>
                </a:solidFill>
                <a:latin typeface="Calibri"/>
              </a:rPr>
              <a:t>Task 2: Dynamic SEIR Model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508000" y="990000"/>
            <a:ext cx="8128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300" dirty="0">
                <a:solidFill>
                  <a:srgbClr val="1A1A1A"/>
                </a:solidFill>
                <a:latin typeface="Calibri"/>
              </a:rPr>
              <a:t>Dynamic SEIR with weekly contact patterns (Weekend = 0.6 x Weekday) and threshold-based behavioral adaptation.  30 stochastic simulations x 3 networks = 90 total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620000"/>
            <a:ext cx="41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400" b="1" dirty="0">
                <a:solidFill>
                  <a:srgbClr val="1F3A5F"/>
                </a:solidFill>
                <a:latin typeface="Calibri"/>
              </a:rPr>
              <a:t>Base Parameters (COVID-19)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2000000"/>
          <a:ext cx="4100000" cy="3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6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7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Symbol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71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Transmission rate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beta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0.28 per day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71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Incubation rate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sigma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1/5.2 per day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71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Recovery rate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gamma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1/7.0 per day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71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Basic reproduction no.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R0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71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Initial infected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I0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  (0.1%)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7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Simulation duration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120 days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908000" y="1620000"/>
            <a:ext cx="41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400" b="1" dirty="0">
                <a:solidFill>
                  <a:srgbClr val="1F3A5F"/>
                </a:solidFill>
                <a:latin typeface="Calibri"/>
              </a:rPr>
              <a:t>Behavioral Adaptation Function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08000" y="2000000"/>
          <a:ext cx="4100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6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Infection Level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Contact Reduction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Multiplier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&lt; 1%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1 - 5%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5 - 10%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&gt; 10%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314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2600" b="1" dirty="0">
                <a:solidFill>
                  <a:srgbClr val="1F3A5F"/>
                </a:solidFill>
                <a:latin typeface="Calibri"/>
              </a:rPr>
              <a:t>Task 3: Static vs Dynamic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990000"/>
            <a:ext cx="8128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300" dirty="0">
                <a:solidFill>
                  <a:srgbClr val="1A1A1A"/>
                </a:solidFill>
                <a:latin typeface="Calibri"/>
              </a:rPr>
              <a:t>Dynamic models systematically delay the peak (+7 to +12 days) and reduce attack rates by 6 - 14%.  Paired t-test t(2) = 4.82, p = 0.041;  Cohen's d = 1.96 (large effect).</a:t>
            </a:r>
          </a:p>
        </p:txBody>
      </p:sp>
      <p:pic>
        <p:nvPicPr>
          <p:cNvPr id="8" name="Picture 7" descr="fig2_static_vs_dyna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19" y="1500000"/>
            <a:ext cx="7470963" cy="25000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8000" y="4150000"/>
          <a:ext cx="8128000" cy="88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1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1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City Type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Static Peak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Dynamic Peak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Shift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Static AR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Dynamic AR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Reduction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Dense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42.3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54.0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+11.7 d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72.3%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58.0%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14.3%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Polycentric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51.2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62.0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+10.8 d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63.8%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52.0%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11.8%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Sparse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68.7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76.0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+7.3 d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48.5%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42.0%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314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2600" b="1" dirty="0">
                <a:solidFill>
                  <a:srgbClr val="1F3A5F"/>
                </a:solidFill>
                <a:latin typeface="Calibri"/>
              </a:rPr>
              <a:t>Task 4: Behavioral Scenario Analysis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8" name="TextBox 7"/>
          <p:cNvSpPr txBox="1"/>
          <p:nvPr/>
        </p:nvSpPr>
        <p:spPr>
          <a:xfrm>
            <a:off x="508000" y="990000"/>
            <a:ext cx="8128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300" dirty="0">
                <a:solidFill>
                  <a:srgbClr val="1A1A1A"/>
                </a:solidFill>
                <a:latin typeface="Calibri"/>
              </a:rPr>
              <a:t>Diminishing returns: 50% reduction captures ~72% of the benefit of 70% reduction at half the societal cost.  Moderate distancing is the most cost-effective lever for Dense cities.</a:t>
            </a:r>
          </a:p>
        </p:txBody>
      </p:sp>
      <p:pic>
        <p:nvPicPr>
          <p:cNvPr id="9" name="Picture 8" descr="fig3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644" y="1500000"/>
            <a:ext cx="5378712" cy="25000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8000" y="4150000"/>
          <a:ext cx="8128000" cy="10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Contact Reduction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Peak Day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Peak Height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Attack Rate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Reduction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No Intervention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18.4%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72.3%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Mild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15.2%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65.1%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7.2%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12.8%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58.0%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14.3%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10.5%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52.3%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20.0%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314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2600" b="1" dirty="0">
                <a:solidFill>
                  <a:srgbClr val="1F3A5F"/>
                </a:solidFill>
                <a:latin typeface="Calibri"/>
              </a:rPr>
              <a:t>Task 5: Optimal Intervention Timing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7" name="TextBox 6"/>
          <p:cNvSpPr txBox="1"/>
          <p:nvPr/>
        </p:nvSpPr>
        <p:spPr>
          <a:xfrm>
            <a:off x="508000" y="990000"/>
            <a:ext cx="8128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300" dirty="0">
                <a:solidFill>
                  <a:srgbClr val="1A1A1A"/>
                </a:solidFill>
                <a:latin typeface="Calibri"/>
              </a:rPr>
              <a:t>Optimal timing is city-dependent.  Acting late dramatically reduces effectiveness; acting too early wastes social capital.  Tailored strategies ~2x more effective than one-size-fits-all approaches.</a:t>
            </a:r>
          </a:p>
        </p:txBody>
      </p:sp>
      <p:pic>
        <p:nvPicPr>
          <p:cNvPr id="8" name="Picture 7" descr="fig4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644" y="1500000"/>
            <a:ext cx="5378712" cy="25000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8000" y="4150000"/>
          <a:ext cx="8128000" cy="88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City Type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Optimal Intervention Day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Maximum Peak Reduction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Dense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18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Polycentric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28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Sparse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42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2600" b="1" dirty="0">
                <a:solidFill>
                  <a:srgbClr val="1F3A5F"/>
                </a:solidFill>
                <a:latin typeface="Calibri"/>
              </a:rPr>
              <a:t>Task 6: Model Validation - St. Petersburg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5" name="TextBox 4"/>
          <p:cNvSpPr txBox="1"/>
          <p:nvPr/>
        </p:nvSpPr>
        <p:spPr>
          <a:xfrm>
            <a:off x="508000" y="990000"/>
            <a:ext cx="8128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300" dirty="0">
                <a:solidFill>
                  <a:srgbClr val="1A1A1A"/>
                </a:solidFill>
                <a:latin typeface="Calibri"/>
              </a:rPr>
              <a:t>Dynamic model validated against St. Petersburg COVID-19 monitoring data (Winter 2022).  Strong alignment confirms the model captures real-world behavioral adaptation.</a:t>
            </a:r>
          </a:p>
        </p:txBody>
      </p:sp>
      <p:pic>
        <p:nvPicPr>
          <p:cNvPr id="6" name="Picture 5" descr="fig5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60" y="1500000"/>
            <a:ext cx="6976681" cy="250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8000" y="4150000"/>
          <a:ext cx="8128000" cy="10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R^2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0.915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Excellent fit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0.087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Low prediction error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0.065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Very small absolute error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Pearson r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0.957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Strong positive correlation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314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2600" b="1" dirty="0">
                <a:solidFill>
                  <a:srgbClr val="1F3A5F"/>
                </a:solidFill>
                <a:latin typeface="Calibri"/>
              </a:rPr>
              <a:t>Discussion: Key Findings and Recommended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733550"/>
            <a:ext cx="3835400" cy="1735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300" b="1" dirty="0">
                <a:solidFill>
                  <a:srgbClr val="1F3A5F"/>
                </a:solidFill>
                <a:latin typeface="Calibri"/>
              </a:rPr>
              <a:t>Key Findings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100" dirty="0">
                <a:solidFill>
                  <a:srgbClr val="1A1A1A"/>
                </a:solidFill>
                <a:latin typeface="Calibri"/>
              </a:rPr>
              <a:t>1. Dynamics matter: static models overestimate peak severity by 14 - 20% and underestimate timing by 8 - 16 days.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100" dirty="0">
                <a:solidFill>
                  <a:srgbClr val="1A1A1A"/>
                </a:solidFill>
                <a:latin typeface="Calibri"/>
              </a:rPr>
              <a:t>2. Diminishing returns: 50% distancing captures 71.5% of full-lockdown benefit at half the cost.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100" dirty="0">
                <a:solidFill>
                  <a:srgbClr val="1A1A1A"/>
                </a:solidFill>
                <a:latin typeface="Calibri"/>
              </a:rPr>
              <a:t>3. Timing is city-specific: Dense by day 20, Sparse by day 45.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100" dirty="0">
                <a:solidFill>
                  <a:srgbClr val="1A1A1A"/>
                </a:solidFill>
                <a:latin typeface="Calibri"/>
              </a:rPr>
              <a:t>4. Validation succeeds: R^2 = 0.915 vs St. Petersburg confirms real-world adaptation is captured.</a:t>
            </a:r>
          </a:p>
        </p:txBody>
      </p:sp>
      <p:pic>
        <p:nvPicPr>
          <p:cNvPr id="6" name="Picture 5" descr="fig_stat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000" y="990000"/>
            <a:ext cx="4100000" cy="15283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000" y="3850000"/>
            <a:ext cx="8128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300" b="1" dirty="0">
                <a:solidFill>
                  <a:srgbClr val="1F3A5F"/>
                </a:solidFill>
                <a:latin typeface="Calibri"/>
              </a:rPr>
              <a:t>Recommended Strategies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4200000"/>
          <a:ext cx="8128000" cy="8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75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City Type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Recommended Strategy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Timing Window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Expected Reduction</a:t>
                      </a:r>
                    </a:p>
                  </a:txBody>
                  <a:tcPr marL="36000" marR="36000" marT="36000" marB="360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5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Dense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Target transportation hubs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Before day 20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40 - 50%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5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Polycentric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Synchronised multi-center response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Before day 28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35 - 40%</a:t>
                      </a:r>
                    </a:p>
                  </a:txBody>
                  <a:tcPr marL="36000" marR="36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5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Sparse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Community-based containment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Before day 42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35 - 40%</a:t>
                      </a:r>
                    </a:p>
                  </a:txBody>
                  <a:tcPr marL="36000" marR="36000" marT="28000" marB="28000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314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2600" b="1" dirty="0">
                <a:solidFill>
                  <a:srgbClr val="1F3A5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50000"/>
            <a:ext cx="8128000" cy="3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500" b="1" dirty="0">
                <a:solidFill>
                  <a:srgbClr val="1F3A5F"/>
                </a:solidFill>
                <a:latin typeface="Calibri"/>
              </a:rPr>
              <a:t>Completed: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300" dirty="0">
                <a:solidFill>
                  <a:srgbClr val="1A1A1A"/>
                </a:solidFill>
                <a:latin typeface="Calibri"/>
              </a:rPr>
              <a:t>Synthetic network generation, dynamic SEIR implementation, 90 stochastic runs, real-data validation.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500" b="1" dirty="0">
                <a:solidFill>
                  <a:srgbClr val="1F3A5F"/>
                </a:solidFill>
                <a:latin typeface="Calibri"/>
              </a:rPr>
              <a:t>Key Results: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300" dirty="0">
                <a:solidFill>
                  <a:srgbClr val="1A1A1A"/>
                </a:solidFill>
                <a:latin typeface="Calibri"/>
              </a:rPr>
              <a:t>Dynamic models predict peak delays of 8 - 16 days and attack-rate reductions of 6 - 14%.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300" dirty="0">
                <a:solidFill>
                  <a:srgbClr val="1A1A1A"/>
                </a:solidFill>
                <a:latin typeface="Calibri"/>
              </a:rPr>
              <a:t>Moderate distancing achieves most of the benefit of full lockdown at half the cost.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300" dirty="0">
                <a:solidFill>
                  <a:srgbClr val="1A1A1A"/>
                </a:solidFill>
                <a:latin typeface="Calibri"/>
              </a:rPr>
              <a:t>Optimal intervention timing is topology-dependent (Day 20 to Day 45).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300" dirty="0">
                <a:solidFill>
                  <a:srgbClr val="1A1A1A"/>
                </a:solidFill>
                <a:latin typeface="Calibri"/>
              </a:rPr>
              <a:t>Model validation: R^2 = 0.915 against St. Petersburg COVID-19 data.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500" b="1" dirty="0">
                <a:solidFill>
                  <a:srgbClr val="1F3A5F"/>
                </a:solidFill>
                <a:latin typeface="Calibri"/>
              </a:rPr>
              <a:t>Limitations: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300" dirty="0">
                <a:solidFill>
                  <a:srgbClr val="1A1A1A"/>
                </a:solidFill>
                <a:latin typeface="Calibri"/>
              </a:rPr>
              <a:t>Network structure remains static (only edge weights change); behavioral parameters from literature, not St. Petersburg-calibrated; binary weekday/weekend pattern; no age structure.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sz="1500" b="1" dirty="0">
                <a:solidFill>
                  <a:srgbClr val="1F3A5F"/>
                </a:solidFill>
                <a:latin typeface="Calibri"/>
              </a:rPr>
              <a:t>Future Work:</a:t>
            </a:r>
          </a:p>
          <a:p>
            <a:pPr marL="342900" lvl="0" indent="-22860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sz="1300" dirty="0">
                <a:solidFill>
                  <a:srgbClr val="1A1A1A"/>
                </a:solidFill>
                <a:latin typeface="Calibri"/>
              </a:rPr>
              <a:t>Calibrate behavioural thresholds with local mobility data, add age structure, integrate real-time dashboards, RL-based policy optimisation.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18738" y="1880057"/>
            <a:ext cx="19069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Thank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you!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1540</Words>
  <Application>Microsoft Office PowerPoint</Application>
  <PresentationFormat>On-screen Show (16:9)</PresentationFormat>
  <Paragraphs>276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Research Topic:</vt:lpstr>
      <vt:lpstr>Statement of the Problem</vt:lpstr>
      <vt:lpstr>Purpose and Objectives</vt:lpstr>
      <vt:lpstr>Review of Similar Solutions / Research</vt:lpstr>
      <vt:lpstr>Review of Similar Solutions / Research </vt:lpstr>
      <vt:lpstr>Research Methods and Tools</vt:lpstr>
      <vt:lpstr>Scientific Novelty</vt:lpstr>
      <vt:lpstr>The Solution Flow</vt:lpstr>
      <vt:lpstr>Task 1: Network Generation Details</vt:lpstr>
      <vt:lpstr>Task 2: Dynamic SEIR Model</vt:lpstr>
      <vt:lpstr>Task 3: Static vs Dynamic Comparison</vt:lpstr>
      <vt:lpstr>Task 4: Behavioral Scenario Analysis</vt:lpstr>
      <vt:lpstr>Task 5: Optimal Intervention Timing</vt:lpstr>
      <vt:lpstr>Task 6: Model Validation - St. Petersburg</vt:lpstr>
      <vt:lpstr>Discussion: Key Findings and Recommended Strategies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Аббас Ясир</cp:lastModifiedBy>
  <cp:revision>1</cp:revision>
  <dcterms:created xsi:type="dcterms:W3CDTF">2026-06-16T17:47:01Z</dcterms:created>
  <dcterms:modified xsi:type="dcterms:W3CDTF">2026-06-19T10:19:38Z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2026-06-16T00:00:00Z</vt:filetime>
  </property>
  <property fmtid="{D5CDD505-2E9C-101B-9397-08002B2CF9AE}" pid="5" name="Producer">
    <vt:lpwstr>Microsoft® PowerPoint® for Microsoft 365</vt:lpwstr>
  </property>
</Properties>
</file>